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108960"/>
            <a:ext cx="4114800" cy="4114800"/>
          </a:xfrm>
          <a:prstGeom prst="ellipse">
            <a:avLst/>
          </a:prstGeom>
          <a:solidFill>
            <a:srgbClr val="F5B400">
              <a:alpha val="12000"/>
            </a:srgbClr>
          </a:solidFill>
          <a:ln w="12700">
            <a:solidFill>
              <a:srgbClr val="F5B4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11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HONEYBADGE  ·  v1.0.0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企业知识图谱智能助手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AI 原生的 ERP 审计大脑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21A35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零幻觉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33375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21A35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可审计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33756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21A35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337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15875">
            <a:solidFill>
              <a:srgbClr val="F5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 ·  全栈开源  ·  GitHub: xiaohanarch/HoneyBadge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真实痛点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69080" cy="11887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1887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数据沉淀百亿级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EBS / 自研 ERP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采购、销售、付款、收货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828800"/>
            <a:ext cx="4069080" cy="11887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828800"/>
            <a:ext cx="54864" cy="11887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2029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查询门槛极高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张表 + PTP/OTC 双流程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手写 SQL,动辄数小时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154680"/>
            <a:ext cx="4069080" cy="11887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154680"/>
            <a:ext cx="54864" cy="11887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355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审计覆盖率 &lt; 1%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80160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虚假交易检测靠经验抽查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大部分风险埋藏在数据里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154680"/>
            <a:ext cx="4069080" cy="11887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63440" y="3154680"/>
            <a:ext cx="54864" cy="11887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3558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幻觉灾难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0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在财务场景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编造一个金额 = 合规事故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4434840"/>
            <a:ext cx="54864" cy="45720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5800" y="4434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我们要的不是 “更聪明的 ChatGPT”,而是一个可被审计部门作为证据采纳的 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要解决的问题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问题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现状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HoneyBadge 目标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</a:rPr>
                        <a:t>自然语言问 ERP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85"/>
                          </a:solidFill>
                        </a:rPr>
                        <a:t>不可能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中文一问即答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</a:rPr>
                        <a:t>跨流程关联分析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85"/>
                          </a:solidFill>
                        </a:rPr>
                        <a:t>手写 SQL 数小时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nGQL 多跳查询数秒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F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</a:rPr>
                        <a:t>虚假交易检测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85"/>
                          </a:solidFill>
                        </a:rPr>
                        <a:t>抽查 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12 种异常模式全量扫描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</a:rPr>
                        <a:t>审计追溯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85"/>
                          </a:solidFill>
                        </a:rPr>
                        <a:t>翻日志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trace_id 字节级溯源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F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</a:rPr>
                        <a:t>LLM 幻觉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85"/>
                          </a:solidFill>
                        </a:rPr>
                        <a:t>不可控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5 层防幻觉框架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1828800"/>
            <a:ext cx="228600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933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核心场景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583680" y="2587752"/>
            <a:ext cx="73152" cy="73152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6656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循环交易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583680" y="2953512"/>
            <a:ext cx="73152" cy="73152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665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拆单规避审批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83680" y="3319272"/>
            <a:ext cx="73152" cy="73152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对倒交易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83680" y="3685032"/>
            <a:ext cx="73152" cy="73152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三单不匹配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83680" y="4050792"/>
            <a:ext cx="73152" cy="73152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665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断供影响链分析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从手写 SQL · 到自然语言 · 从经验抽查 · 到全量扫描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一句话定义 + 系统全景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59436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 = </a:t>
            </a:r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NebulaGraph 图谱  +  HiClaw 多 Agent  +  5 层防幻觉  +  全链路审计  +  12 类欺诈检测本体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914400" cy="2926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697480"/>
            <a:ext cx="50292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697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  +  matrix-js-sdk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914400" cy="2926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35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035808"/>
            <a:ext cx="50292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0358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honeybadge-auth   ( 每用户独立 Matrix 账号 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914400" cy="2926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741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374136"/>
            <a:ext cx="5029200" cy="292608"/>
          </a:xfrm>
          <a:prstGeom prst="rect">
            <a:avLst/>
          </a:prstGeom>
          <a:solidFill>
            <a:srgbClr val="2A3B6E"/>
          </a:solidFill>
          <a:ln w="12700">
            <a:solidFill>
              <a:srgbClr val="2A3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3741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Tuwunel Matrix   ( 浏览器直连,零中间代理 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914400" cy="2926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12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3712464"/>
            <a:ext cx="5029200" cy="292608"/>
          </a:xfrm>
          <a:prstGeom prst="rect">
            <a:avLst/>
          </a:prstGeom>
          <a:solidFill>
            <a:srgbClr val="2A3B6E"/>
          </a:solidFill>
          <a:ln w="12700">
            <a:solidFill>
              <a:srgbClr val="2A3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7124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HiClaw Manager   ( Higress  +  MinIO 一体 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50792"/>
            <a:ext cx="914400" cy="2926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50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4050792"/>
            <a:ext cx="5029200" cy="292608"/>
          </a:xfrm>
          <a:prstGeom prst="rect">
            <a:avLst/>
          </a:prstGeom>
          <a:solidFill>
            <a:srgbClr val="3D4E80"/>
          </a:solidFill>
          <a:ln w="12700">
            <a:solidFill>
              <a:srgbClr val="3D4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4050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analytics worker   ( 无状态、可弹性扩缩 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914400" cy="2926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89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371600" y="4389120"/>
            <a:ext cx="5029200" cy="292608"/>
          </a:xfrm>
          <a:prstGeom prst="rect">
            <a:avLst/>
          </a:prstGeom>
          <a:solidFill>
            <a:srgbClr val="3D4E80"/>
          </a:solidFill>
          <a:ln w="12700">
            <a:solidFill>
              <a:srgbClr val="3D4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4389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  ( nebula  /  audit  /  cache 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2697480"/>
            <a:ext cx="2103120" cy="1984248"/>
          </a:xfrm>
          <a:prstGeom prst="rect">
            <a:avLst/>
          </a:prstGeom>
          <a:solidFill>
            <a:srgbClr val="E8EFFB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58368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</a:t>
            </a:r>
            <a:endParaRPr lang="en-US" sz="11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3063240"/>
            <a:ext cx="274320" cy="27432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720840" y="3520440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12280" y="35387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NebulaGraph 3.8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812280" y="36850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图谱主存储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20840" y="390448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12280" y="39227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812280" y="40690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 / 元数据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0840" y="4288536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12280" y="43068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812280" y="44531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热缓存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从浏览器到图引擎  ·  6 层链路  ·  全链路 trace_id 可追溯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与主流 Agent 框架的差异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91640"/>
                <a:gridCol w="1243584"/>
                <a:gridCol w="1243584"/>
                <a:gridCol w="1243584"/>
                <a:gridCol w="125272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HoneyBadge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4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OpenClaw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DeerFlow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HiClaw 原版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HermesClaw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反幻觉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A73"/>
                          </a:solidFill>
                        </a:rPr>
                        <a:t>✓ 5 层(唯一)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全链路审计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A73"/>
                          </a:solidFill>
                        </a:rPr>
                        <a:t>✓ trace_id 到结果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JSONL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token 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Matrix 历史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SQLite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AST 级权限注入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AA7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Consumer token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OPA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L4 原始数据透传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AA73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领域知识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A73"/>
                          </a:solidFill>
                        </a:rPr>
                        <a:t>✓ 12 份本体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通用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通用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通用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85"/>
                          </a:solidFill>
                        </a:rPr>
                        <a:t>118 通用技能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26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4434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唯一同时具备  大规模图引擎 + 多 Agent 编排 + 本体驱动 NL 接口 + 零幻觉审计  的方案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五大技术难题概览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928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847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幻觉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00200" y="20756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模型可能编造一个不存在的金额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331720"/>
            <a:ext cx="8229600" cy="0"/>
          </a:xfrm>
          <a:prstGeom prst="line">
            <a:avLst/>
          </a:prstGeom>
          <a:noFill/>
          <a:ln w="6350">
            <a:solidFill>
              <a:srgbClr val="D8DE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414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395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多用户会话碰撞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600200" y="26243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HiClaw per-channel-peer 假设让共享账号失效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6350">
            <a:solidFill>
              <a:srgbClr val="D8DEE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9008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图谱权限注入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317296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字符串拼接 = SQL 注入级别风险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6350">
            <a:solidFill>
              <a:srgbClr val="D8DEE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3872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3493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本体爆炸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600200" y="37216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个业务域全注入会撑爆 token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D8DEE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87368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600200" y="4041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CRLF 静默杀手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1600200" y="427024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\r 让 ConfigMap 在生产里悄无声息地崩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接下来逐个说明我们怎么解的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  /   难题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五层防幻觉框架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EF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0" cy="91440"/>
          </a:xfrm>
          <a:prstGeom prst="line">
            <a:avLst/>
          </a:prstGeom>
          <a:noFill/>
          <a:ln w="19050">
            <a:solidFill>
              <a:srgbClr val="F5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548640" cy="32918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2240280"/>
            <a:ext cx="35661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240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nGQL 语法校验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级 · 错误重生成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560320"/>
            <a:ext cx="0" cy="91440"/>
          </a:xfrm>
          <a:prstGeom prst="line">
            <a:avLst/>
          </a:prstGeom>
          <a:noFill/>
          <a:ln w="19050">
            <a:solidFill>
              <a:srgbClr val="F5B4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51760"/>
            <a:ext cx="548640" cy="32918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51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651760"/>
            <a:ext cx="35661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651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校验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2651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Tag/Edge/属性必须真实存在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971800"/>
            <a:ext cx="0" cy="91440"/>
          </a:xfrm>
          <a:prstGeom prst="line">
            <a:avLst/>
          </a:prstGeom>
          <a:noFill/>
          <a:ln w="19050">
            <a:solidFill>
              <a:srgbClr val="F5B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63240"/>
            <a:ext cx="548640" cy="32918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63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" y="3063240"/>
            <a:ext cx="35661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063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权限注入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063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级改写 · 注入 org_id 过滤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383280"/>
            <a:ext cx="0" cy="91440"/>
          </a:xfrm>
          <a:prstGeom prst="line">
            <a:avLst/>
          </a:prstGeom>
          <a:noFill/>
          <a:ln w="19050">
            <a:solidFill>
              <a:srgbClr val="F5B4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74720"/>
            <a:ext cx="548640" cy="32918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747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05840" y="3474720"/>
            <a:ext cx="35661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34747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原始结果透传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9748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只能包装、不能改数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3794760"/>
            <a:ext cx="0" cy="91440"/>
          </a:xfrm>
          <a:prstGeom prst="line">
            <a:avLst/>
          </a:prstGeom>
          <a:noFill/>
          <a:ln w="19050">
            <a:solidFill>
              <a:srgbClr val="F5B4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886200"/>
            <a:ext cx="548640" cy="32918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862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5840" y="3886200"/>
            <a:ext cx="356616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38862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审计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97480" y="3886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nGQL → raw → summary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38912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可信结果 + 审计 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178308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1783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3504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只翻译,不回答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前端永远展示  ·  四件套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37760" y="2834640"/>
            <a:ext cx="1828800" cy="713232"/>
          </a:xfrm>
          <a:prstGeom prst="rect">
            <a:avLst/>
          </a:prstGeom>
          <a:solidFill>
            <a:srgbClr val="E8EFFB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2907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摘要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74920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易读、面向人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12280" y="2834640"/>
            <a:ext cx="1828800" cy="713232"/>
          </a:xfrm>
          <a:prstGeom prst="rect">
            <a:avLst/>
          </a:prstGeom>
          <a:solidFill>
            <a:srgbClr val="E8EFFB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907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原始数据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49440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未被改写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37760" y="3611880"/>
            <a:ext cx="1828800" cy="713232"/>
          </a:xfrm>
          <a:prstGeom prst="rect">
            <a:avLst/>
          </a:prstGeom>
          <a:solidFill>
            <a:srgbClr val="E8EFFB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执行的 nGQL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7492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可重放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12280" y="3611880"/>
            <a:ext cx="1828800" cy="713232"/>
          </a:xfrm>
          <a:prstGeom prst="rect">
            <a:avLst/>
          </a:prstGeom>
          <a:solidFill>
            <a:srgbClr val="E8EFFB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 ID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49440" y="39776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追溯证据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3776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用户可肉眼交叉验证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  /   难题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多用户隔离  ·  Approach B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50292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83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  ·  </a:t>
            </a:r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HiClaw Manager 对每个 Matrix peer 只维护一个活跃 DM。共享 @gateway 账号  →  第二个用户的消息直接被丢弃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423160"/>
            <a:ext cx="54864" cy="502920"/>
          </a:xfrm>
          <a:prstGeom prst="rect">
            <a:avLst/>
          </a:prstGeom>
          <a:solidFill>
            <a:srgbClr val="2EAA73"/>
          </a:solidFill>
          <a:ln w="12700">
            <a:solidFill>
              <a:srgbClr val="2EAA7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423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A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  ·  </a:t>
            </a:r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登录时 honeybadge-auth 在 Tuwunel 为每个用户创建专属账号 @hb-{username},浏览器拿 access_token 直连 Tuwunel,绕开所有中间代理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旧方案 (WebSocket 代理)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Approach B (当前)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4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会话隔离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per-channel-peer 冲突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A73"/>
                          </a:solidFill>
                        </a:rPr>
                        <a:t>每用户独立身份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中间层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server 代理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A73"/>
                          </a:solidFill>
                        </a:rPr>
                        <a:t>零代理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可审计性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代理层手写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A73"/>
                          </a:solidFill>
                        </a:rPr>
                        <a:t>Matrix Room 天然历史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0857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附加创新  ·  服务端预创建 DM 房间(写入 m.direct),消除客户端房间发现竞态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  /   难题 03  + 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权限注入  &amp;  本体路由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4023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级权限注入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错误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+ " WHERE org_id = " + user.org_id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A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正确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A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→ AST → 注入过滤 → 序列化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无过滤即拒绝执行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3657600" cy="0"/>
          </a:xfrm>
          <a:prstGeom prst="line">
            <a:avLst/>
          </a:prstGeom>
          <a:noFill/>
          <a:ln w="12700">
            <a:solidFill>
              <a:srgbClr val="F5B4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权限服务(已有 Java SDK)封装为 MCP Server,零业务代码改动复用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17830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1783080"/>
            <a:ext cx="4023360" cy="4114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8800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208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本体路由  ·  给 LLM 读的 markdown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846320" y="242316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463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2120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7665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必选 · 全局上下文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46320" y="283464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463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21208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关键词 Top 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7665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按问题匹配本体头部 Keywords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46320" y="32461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4632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2120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7665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命中风险词时触发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846320" y="365760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463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21208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master-data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7665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兜底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800600" y="4114800"/>
            <a:ext cx="3749040" cy="64008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92040" y="4114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600" dirty="0"/>
          </a:p>
        </p:txBody>
      </p:sp>
      <p:sp>
        <p:nvSpPr>
          <p:cNvPr id="42" name="Text 38"/>
          <p:cNvSpPr/>
          <p:nvPr/>
        </p:nvSpPr>
        <p:spPr>
          <a:xfrm>
            <a:off x="626364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token 节省  ·  单次仅注入 ~3-4 份本体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工程亮点速览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743200" cy="132588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743200" cy="7315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39696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0299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零信任凭证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5420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永远不持有真实 LLM API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继承自 HiClaw + Higress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19272" y="1828800"/>
            <a:ext cx="2743200" cy="132588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9272" y="1828800"/>
            <a:ext cx="2743200" cy="7315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02152" y="20299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39696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96512" y="20299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完全无状态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02152" y="25420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配置全部从 MinIO 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可任意销毁重建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81344" y="1828800"/>
            <a:ext cx="2743200" cy="132588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81344" y="1828800"/>
            <a:ext cx="2743200" cy="7315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64224" y="20299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39696"/>
            <a:ext cx="283464" cy="2834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58584" y="20299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CRLF 三层防御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64224" y="25420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.gitattributes → .editorconfig → .githooks/pre-commit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阻断 *.sh|.py|.yaml|.ngql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769364" y="3319272"/>
            <a:ext cx="2743200" cy="132588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769364" y="3319272"/>
            <a:ext cx="2743200" cy="7315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952244" y="3520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972" y="3630168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546604" y="3520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已落地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952244" y="40325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单节点 k3s + 15 pods Running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ECS 公网验证通过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31436" y="3319272"/>
            <a:ext cx="2743200" cy="132588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31436" y="3319272"/>
            <a:ext cx="2743200" cy="7315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814316" y="3520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3630168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08676" y="3520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测试矩阵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814316" y="40325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chat · session · isolation · permission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antihal · mcp · infra · observability  共 9 类标记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CANDID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当前的诚实短板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短板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现状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影响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链路 6 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485"/>
                          </a:solidFill>
                        </a:rPr>
                        <a:t>User → Matrix → Manager → Worker → MCP → Higress → LLM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简单查询也要 ~5s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Manager 全合一容器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485"/>
                          </a:solidFill>
                        </a:rPr>
                        <a:t>Tuwunel + MinIO + Higress + Element 共进程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调试与独立扩缩困难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任务路由 “笨”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485"/>
                          </a:solidFill>
                        </a:rPr>
                        <a:t>关键词匹配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不如 LLM 推理分解灵活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无学习能力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485"/>
                          </a:solidFill>
                        </a:rPr>
                        <a:t>每次查询从零开始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不会积累 nGQL 模板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单通道集成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485"/>
                          </a:solidFill>
                        </a:rPr>
                        <a:t>仅 Matrix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钉钉 / 飞书 / 企微未对接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238"/>
                          </a:solidFill>
                        </a:rPr>
                        <a:t>双单点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485"/>
                          </a:solidFill>
                        </a:rPr>
                        <a:t>Manager + MinIO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534F"/>
                          </a:solidFill>
                        </a:rPr>
                        <a:t>HA 方案 Phase 2 才落地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4526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把短板摆在台面上,Phase 2/3 都已规划在路线图里  →  下一页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+  Phase 3 路线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310896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40233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业务能力扩展  ·  ~5 个月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724912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606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 MCP Server 落地 + Cypher AST 注入中间件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145536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0266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T+1 ETL 管道(SeaTunnel + GE 三层校验)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566160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34472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Milvus:语义缓存 / 本体检索 / 长期记忆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986784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3867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大小模型分流:60% 简单查询走 GLM-4.7-Flash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0080" y="4407408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" y="42885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HA:Manager 多副本 + MinIO 多节点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1783080"/>
            <a:ext cx="4023360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63440" y="1783080"/>
            <a:ext cx="4023360" cy="640080"/>
          </a:xfrm>
          <a:prstGeom prst="rect">
            <a:avLst/>
          </a:prstGeom>
          <a:solidFill>
            <a:srgbClr val="121A35"/>
          </a:solidFill>
          <a:ln w="12700">
            <a:solidFill>
              <a:srgbClr val="121A3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2024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303520" y="2075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全面生产  ·  ~6 个月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46320" y="2724912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47488" y="2606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准实时(Debezium + Kafka),秒级风险预警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846320" y="3145536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47488" y="30266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多模态融合:合同 PDF / 图纸 OCR 入图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846320" y="3566160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47488" y="34472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联邦查询:CRM / WMS / MES 走 MCP 不入图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846320" y="3986784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47488" y="3867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国产化生产:GLM-5 744B MoE 私有部署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846320" y="4407408"/>
            <a:ext cx="91440" cy="91440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47488" y="42885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硬件:华为昇腾 910B(W4A8 量化)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57200" y="49377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→  业务扩展  →  全面生产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46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6384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AI-NATIVE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原生研发  ≠  AI 辅助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77724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777240"/>
          </a:xfrm>
          <a:prstGeom prst="rect">
            <a:avLst/>
          </a:prstGeom>
          <a:solidFill>
            <a:srgbClr val="5A6485"/>
          </a:solidFill>
          <a:ln w="12700">
            <a:solidFill>
              <a:srgbClr val="5A64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程序员是主角,AI 是工具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783080"/>
            <a:ext cx="54864" cy="77724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是协作者,工程师是 Tech Lead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整个仓库为 AI 协作而优化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仓库里看得见的 AI 痕迹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1591056" cy="9601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1591056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954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项目级 Claude Code 指令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12264" y="3063240"/>
            <a:ext cx="1591056" cy="9601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2264" y="3063240"/>
            <a:ext cx="1591056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03704" y="320954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prompts/ontology/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03704" y="35661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份本体  ·  给 LLM 读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67328" y="3063240"/>
            <a:ext cx="1591056" cy="9601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67328" y="3063240"/>
            <a:ext cx="1591056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320954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scripts/ralph/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58768" y="35661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自治循环  ·  prompt + progress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22392" y="3063240"/>
            <a:ext cx="1591056" cy="9601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22392" y="3063240"/>
            <a:ext cx="1591056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320954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memory/MEMORY.md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13832" y="35661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跨会话长期记忆  ·  陷阱沉淀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77456" y="3063240"/>
            <a:ext cx="1591056" cy="960120"/>
          </a:xfrm>
          <a:prstGeom prst="rect">
            <a:avLst/>
          </a:prstGeom>
          <a:solidFill>
            <a:srgbClr val="E8EFFB"/>
          </a:solidFill>
          <a:ln w="12700">
            <a:solidFill>
              <a:srgbClr val="E8EF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77456" y="3063240"/>
            <a:ext cx="1591056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320954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openspec/changes/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68896" y="35661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驱动的变更规格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06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416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拍板架构</a:t>
            </a:r>
            <a:endParaRPr lang="en-US" sz="10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872" y="4334256"/>
            <a:ext cx="164592" cy="16459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514600" y="4206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Claude/Ralph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2514600" y="4416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80% 代码</a:t>
            </a:r>
            <a:endParaRPr lang="en-US" sz="10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4334256"/>
            <a:ext cx="164592" cy="164592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572000" y="4206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572000" y="4416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踩坑</a:t>
            </a:r>
            <a:endParaRPr lang="en-US" sz="1000" dirty="0"/>
          </a:p>
        </p:txBody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4334256"/>
            <a:ext cx="164592" cy="16459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629400" y="42062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下次会话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629400" y="4416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自动避坑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一个人 + 一群 Claude  ·  做到过去 5-6 人小队的工作量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5B400">
              <a:alpha val="8000"/>
            </a:srgbClr>
          </a:solidFill>
          <a:ln w="12700">
            <a:solidFill>
              <a:srgbClr val="F5B4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11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HONEYBADGE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·  HONEYBADGE 想证明三件事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结语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金融级 LLM 应用是可能的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670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只要把 “翻译” 和 “回答” 分开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2990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企业知识图谱不需要重新发明轮子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264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NebulaGraph + HiClaw + MCP 已经够用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3584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原生研发不是口号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本仓库的每一行代码都在实践这件事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5875">
            <a:solidFill>
              <a:srgbClr val="F5B40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41248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xiaohanarch/HoneyBadge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0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 ·  等你来用 · 来挑战 · 来 PR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HoneyBadge - Enterprise Knowledge Graph AI Assistant</dc:title>
  <dc:subject>PptxGenJS Presentation</dc:subject>
  <dc:creator>Project HoneyBadge</dc:creator>
  <cp:lastModifiedBy>Project HoneyBadge</cp:lastModifiedBy>
  <cp:revision>1</cp:revision>
  <dcterms:created xsi:type="dcterms:W3CDTF">2026-04-30T06:28:45Z</dcterms:created>
  <dcterms:modified xsi:type="dcterms:W3CDTF">2026-04-30T06:28:45Z</dcterms:modified>
</cp:coreProperties>
</file>